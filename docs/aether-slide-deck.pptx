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Aether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Privacy-First Student Resilience, Built for Real-World Impact</a:t>
            </a:r>
            <a:br/>
            <a:br/>
            <a:r>
              <a:rPr/>
              <a:t>Aether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Aether in One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privacy-first resilience platform that helps students reflect, connect, and take safer next steps.</a:t>
            </a:r>
          </a:p>
          <a:p>
            <a:pPr lvl="0"/>
            <a:r>
              <a:rPr/>
              <a:t>Built for the space between “I am overwhelmed” and formal care.</a:t>
            </a:r>
          </a:p>
          <a:p>
            <a:pPr lvl="0"/>
            <a:r>
              <a:rPr/>
              <a:t>Designed to be practical, non-clinical, and trustworthy.</a:t>
            </a:r>
          </a:p>
          <a:p>
            <a:pPr lvl="0"/>
            <a:r>
              <a:rPr/>
              <a:t>Engineered as a production-ready monorepo.</a:t>
            </a:r>
          </a:p>
          <a:p>
            <a:pPr lvl="0" indent="0" marL="0">
              <a:buNone/>
            </a:pPr>
            <a:r>
              <a:rPr/>
              <a:t>Presenter notes (35 sec): Aether is a student resilience ecosystem, not just a single app feature. The core promise is simple: help students move from uncertainty to action with dignity, while staying clear about boundaries and safety.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The Problem We Chose to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Students often need support before a crisis.</a:t>
            </a:r>
          </a:p>
          <a:p>
            <a:pPr lvl="0"/>
            <a:r>
              <a:rPr/>
              <a:t>Traditional pathways can feel slow, stigmatizing, or hard to navigate.</a:t>
            </a:r>
          </a:p>
          <a:p>
            <a:pPr lvl="0"/>
            <a:r>
              <a:rPr/>
              <a:t>Most digital tools force a tradeoff between personalization and privacy.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Aether’s position:</a:t>
            </a:r>
          </a:p>
          <a:p>
            <a:pPr lvl="0" indent="0" marL="0">
              <a:buNone/>
            </a:pPr>
            <a:r>
              <a:rPr/>
              <a:t>Early support without surveillance. Guidance without overclaiming.</a:t>
            </a:r>
          </a:p>
          <a:p>
            <a:pPr lvl="0" indent="0" marL="0">
              <a:buNone/>
            </a:pPr>
            <a:r>
              <a:rPr/>
              <a:t>Presenter notes (45 sec): We intentionally focused on early intervention moments: stress spikes, isolation, setbacks, and difficult transitions. Aether fills a real operational gap: what students can do right now, before issues escalate.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Product Surface: Five Support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Echo Chamber: private voice/text reflection with sentiment-aware cues.</a:t>
            </a:r>
          </a:p>
          <a:p>
            <a:pPr lvl="0" indent="-342900" marL="342900">
              <a:buAutoNum type="arabicPeriod"/>
            </a:pPr>
            <a:r>
              <a:rPr/>
              <a:t>Resilience Pathway: guided check-ins, planning, and next-step navigation.</a:t>
            </a:r>
          </a:p>
          <a:p>
            <a:pPr lvl="0" indent="-342900" marL="342900">
              <a:buAutoNum type="arabicPeriod"/>
            </a:pPr>
            <a:r>
              <a:rPr/>
              <a:t>Peer-Navigator: explainable, safety-gated peer matching.</a:t>
            </a:r>
          </a:p>
          <a:p>
            <a:pPr lvl="0" indent="-342900" marL="342900">
              <a:buAutoNum type="arabicPeriod"/>
            </a:pPr>
            <a:r>
              <a:rPr/>
              <a:t>Privacy and Governance: transparent controls and policy boundaries.</a:t>
            </a:r>
          </a:p>
          <a:p>
            <a:pPr lvl="0" indent="-342900" marL="342900">
              <a:buAutoNum type="arabicPeriod"/>
            </a:pPr>
            <a:r>
              <a:rPr/>
              <a:t>Fairness Review: admin-facing oversight for matching quality and equity.</a:t>
            </a:r>
          </a:p>
          <a:p>
            <a:pPr lvl="0" indent="0" marL="0">
              <a:buNone/>
            </a:pPr>
            <a:r>
              <a:rPr/>
              <a:t>Presenter notes (55 sec): These modules are designed to be composable. Teams can deploy the full ecosystem or phase capabilities in over time, without rewriting the whole platform.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What Makes Aether Better Than World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Privacy-first architecture, not privacy theater.</a:t>
            </a:r>
          </a:p>
          <a:p>
            <a:pPr lvl="0"/>
            <a:r>
              <a:rPr/>
              <a:t>Human-centered AI with explicit non-clinical boundaries.</a:t>
            </a:r>
          </a:p>
          <a:p>
            <a:pPr lvl="0"/>
            <a:r>
              <a:rPr/>
              <a:t>Explainability from matching logic to support recommendations.</a:t>
            </a:r>
          </a:p>
          <a:p>
            <a:pPr lvl="0"/>
            <a:r>
              <a:rPr/>
              <a:t>Accessibility as a baseline, not a backlog item.</a:t>
            </a:r>
          </a:p>
          <a:p>
            <a:pPr lvl="0"/>
            <a:r>
              <a:rPr/>
              <a:t>Config-first modularity for campus-specific adaptation.</a:t>
            </a:r>
          </a:p>
          <a:p>
            <a:pPr lvl="0" indent="0" marL="0">
              <a:buNone/>
            </a:pPr>
            <a:r>
              <a:rPr/>
              <a:t>Presenter notes (50 sec): “Better than world class” for us means combining technical excellence with moral clarity. We optimize not just for feature velocity, but for trust velocity: how quickly users and institutions can confidently adopt the system.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Implementation Architecture (Production-Ready)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flowchart LR
  A[Next.js 14 Frontend\nApp Router + TypeScript] --&gt; B[UI Modules\nEcho | Pathway | Peer-Navigator]
  B --&gt; C[Policy + Safety Gates]
  B --&gt; D[RAG Chat API\nStatic index + retrieval]
  A --&gt; E[Node Backend\nhealth + extension APIs]
  B --&gt; F[Matching Engine\nRCSM layered pipeline]
  F --&gt; G[Fairness + Outcome Logs]
  D --&gt; G</a:t>
            </a:r>
          </a:p>
          <a:p>
            <a:pPr lvl="0"/>
            <a:r>
              <a:rPr/>
              <a:t>Monorepo with clear separation: frontend, backend, docs, and content.</a:t>
            </a:r>
          </a:p>
          <a:p>
            <a:pPr lvl="0"/>
            <a:r>
              <a:rPr/>
              <a:t>Quality gates: lint, typecheck, tests, coverage, production build.</a:t>
            </a:r>
          </a:p>
          <a:p>
            <a:pPr lvl="0" indent="0" marL="0">
              <a:buNone/>
            </a:pPr>
            <a:r>
              <a:rPr/>
              <a:t>Presenter notes (60 sec): The implementation is intentionally lightweight and scalable. We avoided unnecessary infrastructure complexity while preserving strong architecture boundaries, observability surfaces, and extensibility.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Design Principle 1: Privacy Before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Local-first patterns for sensitive reflection paths.</a:t>
            </a:r>
          </a:p>
          <a:p>
            <a:pPr lvl="0"/>
            <a:r>
              <a:rPr/>
              <a:t>Data minimization by default.</a:t>
            </a:r>
          </a:p>
          <a:p>
            <a:pPr lvl="0"/>
            <a:r>
              <a:rPr/>
              <a:t>Progressive disclosure for sensitive profile attributes.</a:t>
            </a:r>
          </a:p>
          <a:p>
            <a:pPr lvl="0"/>
            <a:r>
              <a:rPr/>
              <a:t>Explicit consent and visibility controls.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Result:</a:t>
            </a:r>
          </a:p>
          <a:p>
            <a:pPr lvl="0" indent="0" marL="0">
              <a:buNone/>
            </a:pPr>
            <a:r>
              <a:rPr/>
              <a:t>Higher trust, lower data exposure, safer adoption in education contexts.</a:t>
            </a:r>
          </a:p>
          <a:p>
            <a:pPr lvl="0" indent="0" marL="0">
              <a:buNone/>
            </a:pPr>
            <a:r>
              <a:rPr/>
              <a:t>Presenter notes (50 sec): Aether does not assume “collect everything now, secure it later.” We designed data boundaries as first-class product behavior, which is critical for student-facing environments.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Design Principle 2: Safety Before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Hard policy gates remove unsafe matches before scoring.</a:t>
            </a:r>
          </a:p>
          <a:p>
            <a:pPr lvl="0"/>
            <a:r>
              <a:rPr/>
              <a:t>Urgent-risk triage routes to crisis pathways, not peer matching.</a:t>
            </a:r>
          </a:p>
          <a:p>
            <a:pPr lvl="0"/>
            <a:r>
              <a:rPr/>
              <a:t>Training and verification status govern navigator eligibility.</a:t>
            </a:r>
          </a:p>
          <a:p>
            <a:pPr lvl="0"/>
            <a:r>
              <a:rPr/>
              <a:t>Human moderation and governance remain in the loop.</a:t>
            </a:r>
          </a:p>
          <a:p>
            <a:pPr lvl="0" indent="0" marL="0">
              <a:buNone/>
            </a:pPr>
            <a:r>
              <a:rPr/>
              <a:t>Presenter notes (50 sec): Many systems rank first and govern later. We do the opposite. Safety constraints are not optional penalties; they are hard constraints enforced before optimization.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Design Principle 3: Explainable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Peer-Navigator matching uses a layered RCSM approach:</a:t>
            </a:r>
          </a:p>
          <a:p>
            <a:pPr lvl="0" indent="-342900" marL="342900">
              <a:buAutoNum type="arabicPeriod"/>
            </a:pPr>
            <a:r>
              <a:rPr/>
              <a:t>Candidate generation on eligible users.</a:t>
            </a:r>
          </a:p>
          <a:p>
            <a:pPr lvl="0" indent="-342900" marL="342900">
              <a:buAutoNum type="arabicPeriod"/>
            </a:pPr>
            <a:r>
              <a:rPr/>
              <a:t>Reciprocal scoring for two-way fit.</a:t>
            </a:r>
          </a:p>
          <a:p>
            <a:pPr lvl="0" indent="-342900" marL="342900">
              <a:buAutoNum type="arabicPeriod"/>
            </a:pPr>
            <a:r>
              <a:rPr/>
              <a:t>Constrained global optimization.</a:t>
            </a:r>
          </a:p>
          <a:p>
            <a:pPr lvl="0" indent="-342900" marL="342900">
              <a:buAutoNum type="arabicPeriod"/>
            </a:pPr>
            <a:r>
              <a:rPr/>
              <a:t>Stability refinement.</a:t>
            </a:r>
          </a:p>
          <a:p>
            <a:pPr lvl="0" indent="-342900" marL="342900">
              <a:buAutoNum type="arabicPeriod"/>
            </a:pPr>
            <a:r>
              <a:rPr/>
              <a:t>Outcome learning under safety/fairness constraints.</a:t>
            </a:r>
          </a:p>
          <a:p>
            <a:pPr lvl="0" indent="0" marL="0">
              <a:buNone/>
            </a:pPr>
            <a:r>
              <a:rPr/>
              <a:t>Presenter notes (55 sec): This gives us both quality and accountability. We avoid the black-box problem by structuring decisions into auditable phases and exposing meaningful explanations.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9) Lean AI That Actually 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Conversational RAG is static-index based and Vercel-friendly.</a:t>
            </a:r>
          </a:p>
          <a:p>
            <a:pPr lvl="0"/>
            <a:r>
              <a:rPr/>
              <a:t>No mandatory vector DB or heavy orchestration for MVP.</a:t>
            </a:r>
          </a:p>
          <a:p>
            <a:pPr lvl="0"/>
            <a:r>
              <a:rPr/>
              <a:t>Retrieval + citations keep answers grounded in curated Aether content.</a:t>
            </a:r>
          </a:p>
          <a:p>
            <a:pPr lvl="0"/>
            <a:r>
              <a:rPr/>
              <a:t>Provider abstraction supports free-first and future hosted models.</a:t>
            </a:r>
          </a:p>
          <a:p>
            <a:pPr lvl="0" indent="0" marL="0">
              <a:buNone/>
            </a:pPr>
            <a:r>
              <a:rPr/>
              <a:t>Presenter notes (50 sec): We prioritized deployability and reliability over hype complexity. The architecture can scale up later, but it already delivers practical value with low operational burden.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10) Accessibility and Responsible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Keyboard-friendly, readable, responsive interaction design.</a:t>
            </a:r>
          </a:p>
          <a:p>
            <a:pPr lvl="0"/>
            <a:r>
              <a:rPr/>
              <a:t>WCAG-aligned implementation direction.</a:t>
            </a:r>
          </a:p>
          <a:p>
            <a:pPr lvl="0"/>
            <a:r>
              <a:rPr/>
              <a:t>Clear copy boundaries: support tool, not therapy, not emergency care.</a:t>
            </a:r>
          </a:p>
          <a:p>
            <a:pPr lvl="0"/>
            <a:r>
              <a:rPr/>
              <a:t>Designed for low-cognitive-load moments.</a:t>
            </a:r>
          </a:p>
          <a:p>
            <a:pPr lvl="0" indent="0" marL="0">
              <a:buNone/>
            </a:pPr>
            <a:r>
              <a:rPr/>
              <a:t>Presenter notes (45 sec): When users are overwhelmed, design debt becomes user harm. We treat clarity, readability, and predictable flows as safety features.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11) Closing: Why Aether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Aether is a resilience operating layer for institutions that want:</a:t>
            </a:r>
          </a:p>
          <a:p>
            <a:pPr lvl="0"/>
            <a:r>
              <a:rPr/>
              <a:t>better early support,</a:t>
            </a:r>
          </a:p>
          <a:p>
            <a:pPr lvl="0"/>
            <a:r>
              <a:rPr/>
              <a:t>stronger privacy posture,</a:t>
            </a:r>
          </a:p>
          <a:p>
            <a:pPr lvl="0"/>
            <a:r>
              <a:rPr/>
              <a:t>safer peer connection,</a:t>
            </a:r>
          </a:p>
          <a:p>
            <a:pPr lvl="0"/>
            <a:r>
              <a:rPr/>
              <a:t>and measurable, governable AI.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ask:</a:t>
            </a:r>
          </a:p>
          <a:p>
            <a:pPr lvl="0" indent="0" marL="0">
              <a:buNone/>
            </a:pPr>
            <a:r>
              <a:rPr/>
              <a:t>Pilot in one student population, measure outcomes, then scale modularly.</a:t>
            </a:r>
          </a:p>
          <a:p>
            <a:pPr lvl="0" indent="0" marL="0">
              <a:buNone/>
            </a:pPr>
            <a:r>
              <a:rPr/>
              <a:t>Presenter notes (35 sec): Aether is ready for pragmatic pilots. The platform is already structured to learn responsibly: improve match quality, preserve trust, and keep human pathways visible.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Optional Appendix: 8-9 Minute Timing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Slide 1: 0:35</a:t>
            </a:r>
          </a:p>
          <a:p>
            <a:pPr lvl="0" indent="-342900" marL="342900">
              <a:buAutoNum type="arabicPeriod"/>
            </a:pPr>
            <a:r>
              <a:rPr/>
              <a:t>Slide 2: 0:45</a:t>
            </a:r>
          </a:p>
          <a:p>
            <a:pPr lvl="0" indent="-342900" marL="342900">
              <a:buAutoNum type="arabicPeriod"/>
            </a:pPr>
            <a:r>
              <a:rPr/>
              <a:t>Slide 3: 0:55</a:t>
            </a:r>
          </a:p>
          <a:p>
            <a:pPr lvl="0" indent="-342900" marL="342900">
              <a:buAutoNum type="arabicPeriod"/>
            </a:pPr>
            <a:r>
              <a:rPr/>
              <a:t>Slide 4: 0:50</a:t>
            </a:r>
          </a:p>
          <a:p>
            <a:pPr lvl="0" indent="-342900" marL="342900">
              <a:buAutoNum type="arabicPeriod"/>
            </a:pPr>
            <a:r>
              <a:rPr/>
              <a:t>Slide 5: 1:00</a:t>
            </a:r>
          </a:p>
          <a:p>
            <a:pPr lvl="0" indent="-342900" marL="342900">
              <a:buAutoNum type="arabicPeriod"/>
            </a:pPr>
            <a:r>
              <a:rPr/>
              <a:t>Slide 6: 0:50</a:t>
            </a:r>
          </a:p>
          <a:p>
            <a:pPr lvl="0" indent="-342900" marL="342900">
              <a:buAutoNum type="arabicPeriod"/>
            </a:pPr>
            <a:r>
              <a:rPr/>
              <a:t>Slide 7: 0:50</a:t>
            </a:r>
          </a:p>
          <a:p>
            <a:pPr lvl="0" indent="-342900" marL="342900">
              <a:buAutoNum type="arabicPeriod"/>
            </a:pPr>
            <a:r>
              <a:rPr/>
              <a:t>Slide 8: 0:55</a:t>
            </a:r>
          </a:p>
          <a:p>
            <a:pPr lvl="0" indent="-342900" marL="342900">
              <a:buAutoNum type="arabicPeriod"/>
            </a:pPr>
            <a:r>
              <a:rPr/>
              <a:t>Slide 9: 0:50</a:t>
            </a:r>
          </a:p>
          <a:p>
            <a:pPr lvl="0" indent="-342900" marL="342900">
              <a:buAutoNum type="arabicPeriod"/>
            </a:pPr>
            <a:r>
              <a:rPr/>
              <a:t>Slide 10: 0:45</a:t>
            </a:r>
          </a:p>
          <a:p>
            <a:pPr lvl="0" indent="-342900" marL="342900">
              <a:buAutoNum type="arabicPeriod"/>
            </a:pPr>
            <a:r>
              <a:rPr/>
              <a:t>Slide 11: 0:35</a:t>
            </a:r>
          </a:p>
          <a:p>
            <a:pPr lvl="0" indent="0" marL="0">
              <a:buNone/>
            </a:pPr>
            <a:r>
              <a:rPr/>
              <a:t>Total: 8:50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</dc:title>
  <dc:creator>Aether Team</dc:creator>
  <cp:keywords/>
  <dcterms:created xsi:type="dcterms:W3CDTF">2026-06-03T13:17:34Z</dcterms:created>
  <dcterms:modified xsi:type="dcterms:W3CDTF">2026-06-03T13:17:34Z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June 2026</vt:lpwstr>
  </property>
  <property fmtid="{D5CDD505-2E9C-101B-9397-08002B2CF9AE}" pid="3" name="subtitle">
    <vt:lpwstr>Privacy-First Student Resilience, Built for Real-World Impact</vt:lpwstr>
  </property>
</Properties>
</file>